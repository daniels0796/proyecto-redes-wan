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4"/>
  </p:sldMasterIdLst>
  <p:notesMasterIdLst>
    <p:notesMasterId r:id="rId38"/>
  </p:notesMasterIdLst>
  <p:handoutMasterIdLst>
    <p:handoutMasterId r:id="rId39"/>
  </p:handoutMasterIdLst>
  <p:sldIdLst>
    <p:sldId id="275" r:id="rId5"/>
    <p:sldId id="257" r:id="rId6"/>
    <p:sldId id="295" r:id="rId7"/>
    <p:sldId id="299" r:id="rId8"/>
    <p:sldId id="278" r:id="rId9"/>
    <p:sldId id="321" r:id="rId10"/>
    <p:sldId id="320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319" r:id="rId31"/>
    <p:sldId id="279" r:id="rId32"/>
    <p:sldId id="297" r:id="rId33"/>
    <p:sldId id="298" r:id="rId34"/>
    <p:sldId id="296" r:id="rId35"/>
    <p:sldId id="258" r:id="rId36"/>
    <p:sldId id="276" r:id="rId3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4109C0DE-52CB-4731-A675-4B2F53E7C4BD}">
          <p14:sldIdLst>
            <p14:sldId id="275"/>
            <p14:sldId id="257"/>
            <p14:sldId id="295"/>
            <p14:sldId id="299"/>
            <p14:sldId id="278"/>
            <p14:sldId id="321"/>
            <p14:sldId id="320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279"/>
            <p14:sldId id="297"/>
            <p14:sldId id="298"/>
            <p14:sldId id="296"/>
            <p14:sldId id="258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5F5F5"/>
    <a:srgbClr val="969696"/>
    <a:srgbClr val="BED7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DAFEB04-1858-44E7-90CA-09279F322A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558F74E-7BEF-4D74-92E1-99B77CDC3C3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C4D86-CAE6-4EC6-A277-39103B87D469}" type="datetimeFigureOut">
              <a:rPr lang="es-CO" smtClean="0"/>
              <a:t>26/05/2026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E20D8C8-F27E-425A-8668-BB3D1195B7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6892982-2009-4A64-AAD1-56179D9225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644D1-67FA-40E8-B1D6-F3AA6BC720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49959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34792-019C-46AD-A5D2-E17535E61148}" type="datetimeFigureOut">
              <a:rPr lang="es-CO" smtClean="0"/>
              <a:t>26/05/2026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A953EF-97D6-4C02-9315-11B5E9B912A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98300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634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BE9B95-C201-8E16-7014-E240B6B0D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601119"/>
            <a:ext cx="9144000" cy="1655762"/>
          </a:xfrm>
          <a:prstGeom prst="rect">
            <a:avLst/>
          </a:prstGeom>
        </p:spPr>
        <p:txBody>
          <a:bodyPr anchor="ctr"/>
          <a:lstStyle>
            <a:lvl1pPr algn="l">
              <a:defRPr sz="5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B195DF-8D1A-5A86-8A12-81BBD237F1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4256881"/>
            <a:ext cx="9144000" cy="165576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000" b="1">
                <a:solidFill>
                  <a:srgbClr val="FFFF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36334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23EABB-8E7B-BAD7-6D77-0CE4B14467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129" y="2750523"/>
            <a:ext cx="11177741" cy="1838940"/>
          </a:xfrm>
          <a:prstGeom prst="rect">
            <a:avLst/>
          </a:prstGeom>
        </p:spPr>
        <p:txBody>
          <a:bodyPr anchor="ctr"/>
          <a:lstStyle>
            <a:lvl1pPr algn="l">
              <a:defRPr sz="5000" b="1">
                <a:solidFill>
                  <a:srgbClr val="E95D0E"/>
                </a:solidFill>
                <a:latin typeface="+mn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24030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F7A8FC-0C4B-748D-54F0-8737E06CDD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ctr">
              <a:defRPr sz="4500" b="1">
                <a:solidFill>
                  <a:srgbClr val="E95D0E"/>
                </a:solidFill>
                <a:latin typeface="+mn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B1CB6F-8486-308D-0C9A-C637927EC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E0BA62-7A41-1E88-780E-D7042EDE7B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7F899D-823A-4851-93A4-B2F6D7C5824F}" type="datetimeFigureOut">
              <a:rPr lang="es-CO" smtClean="0"/>
              <a:t>26/05/2026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268A2D-C8A0-6773-8665-3B96A85ED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0DD807-723F-19DA-2F52-F7ABD1024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5084" y="6201338"/>
            <a:ext cx="766916" cy="365125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fld id="{483E22A0-831D-4FFB-81B4-59DCEC8670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9117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842F31-C197-4E95-4029-975FF0F0BA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 sz="4500" b="1">
                <a:solidFill>
                  <a:srgbClr val="E95D0E"/>
                </a:solidFill>
                <a:latin typeface="+mn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C0D2DA-B818-836F-3ECC-3132618D42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9B6DDB-9D20-0188-1348-D6BCBF866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9ECCAB-6FE2-7753-4C7D-37A48B2268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7F899D-823A-4851-93A4-B2F6D7C5824F}" type="datetimeFigureOut">
              <a:rPr lang="es-CO" smtClean="0"/>
              <a:t>26/05/2026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0153E1-2BBF-DB69-BE63-972716CDA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33CFDD-A970-FA36-9314-66D6EB749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207" y="6196627"/>
            <a:ext cx="72512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3E22A0-831D-4FFB-81B4-59DCEC8670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986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71299-951A-173B-1E77-DBEA8F1BA0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6218"/>
            <a:ext cx="8915400" cy="1325563"/>
          </a:xfrm>
          <a:prstGeom prst="rect">
            <a:avLst/>
          </a:prstGeom>
        </p:spPr>
        <p:txBody>
          <a:bodyPr/>
          <a:lstStyle>
            <a:lvl1pPr algn="ctr">
              <a:defRPr sz="5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29805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vertical y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5455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401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8475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D47DE0-F906-4306-915C-1D475DCA2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2674" y="197553"/>
            <a:ext cx="9144000" cy="1160984"/>
          </a:xfrm>
        </p:spPr>
        <p:txBody>
          <a:bodyPr/>
          <a:lstStyle/>
          <a:p>
            <a:r>
              <a:rPr lang="es-CO" dirty="0" smtClean="0"/>
              <a:t>Interconexión de Redes WAN</a:t>
            </a:r>
            <a:endParaRPr lang="es-CO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9F7E5DA1-B342-E50F-699B-E4062E6B9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069" y="4754337"/>
            <a:ext cx="9144000" cy="1941534"/>
          </a:xfrm>
        </p:spPr>
        <p:txBody>
          <a:bodyPr/>
          <a:lstStyle/>
          <a:p>
            <a:r>
              <a:rPr lang="es-MX" dirty="0" smtClean="0"/>
              <a:t>Daniel Felipe Guatibonza Suarez</a:t>
            </a:r>
            <a:endParaRPr lang="es-CO" dirty="0" smtClean="0"/>
          </a:p>
          <a:p>
            <a:r>
              <a:rPr lang="es-CO" dirty="0" smtClean="0"/>
              <a:t>Harrison </a:t>
            </a:r>
            <a:r>
              <a:rPr lang="es-CO" dirty="0"/>
              <a:t>David Rodriguez </a:t>
            </a:r>
            <a:r>
              <a:rPr lang="es-CO" dirty="0" smtClean="0"/>
              <a:t>Reyes</a:t>
            </a:r>
          </a:p>
          <a:p>
            <a:r>
              <a:rPr lang="es-MX" dirty="0" smtClean="0"/>
              <a:t>Jhoan Sebastián Montañez</a:t>
            </a:r>
            <a:endParaRPr lang="es-CO" dirty="0"/>
          </a:p>
          <a:p>
            <a:endParaRPr lang="es-CO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DA249EBC-F4EE-41EE-8D07-4D6279965CDA}"/>
              </a:ext>
            </a:extLst>
          </p:cNvPr>
          <p:cNvSpPr txBox="1">
            <a:spLocks/>
          </p:cNvSpPr>
          <p:nvPr/>
        </p:nvSpPr>
        <p:spPr>
          <a:xfrm>
            <a:off x="562428" y="3428774"/>
            <a:ext cx="724625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endParaRPr lang="es-CO" sz="34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630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0BE9A8-D023-D19A-9A83-144DEB740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E51E1D-3D74-A6AA-41CC-8EF974A9C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949" y="3744191"/>
            <a:ext cx="2819833" cy="2452687"/>
          </a:xfrm>
        </p:spPr>
        <p:txBody>
          <a:bodyPr anchor="ctr">
            <a:normAutofit/>
          </a:bodyPr>
          <a:lstStyle/>
          <a:p>
            <a:r>
              <a:rPr lang="es-CO" sz="3600" dirty="0"/>
              <a:t>Introducción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783C1CA-81EE-CFED-48BD-55CEB2ADAB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51" r="8506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70EA77-8687-E3C8-FBBD-62F7C0084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4874" y="3752850"/>
            <a:ext cx="8744522" cy="2779568"/>
          </a:xfrm>
        </p:spPr>
        <p:txBody>
          <a:bodyPr anchor="ctr">
            <a:normAutofit fontScale="92500" lnSpcReduction="10000"/>
          </a:bodyPr>
          <a:lstStyle/>
          <a:p>
            <a:r>
              <a:rPr lang="es-MX" sz="1800" dirty="0"/>
              <a:t>Desarrollo de una plataforma web interactiva para la administración de red.</a:t>
            </a:r>
          </a:p>
          <a:p>
            <a:r>
              <a:rPr lang="es-MX" sz="1800" dirty="0"/>
              <a:t>Gestión centralizada de configuraciones CLI.</a:t>
            </a:r>
          </a:p>
          <a:p>
            <a:r>
              <a:rPr lang="es-MX" sz="1800" dirty="0"/>
              <a:t>Soporte </a:t>
            </a:r>
            <a:r>
              <a:rPr lang="es-MX" sz="1800" dirty="0" err="1"/>
              <a:t>multi-fabricante</a:t>
            </a:r>
            <a:r>
              <a:rPr lang="es-MX" sz="1800" dirty="0"/>
              <a:t>: Cisco, Fortinet, Sophos, </a:t>
            </a:r>
            <a:r>
              <a:rPr lang="es-MX" sz="1800" dirty="0" err="1"/>
              <a:t>MikroTik</a:t>
            </a:r>
            <a:r>
              <a:rPr lang="es-MX" sz="1800" dirty="0"/>
              <a:t>, Aruba.</a:t>
            </a:r>
          </a:p>
          <a:p>
            <a:r>
              <a:rPr lang="es-MX" sz="1800" dirty="0"/>
              <a:t>Orientado a ingenieros NOC, SOC y administradores de infraestructura.</a:t>
            </a:r>
          </a:p>
          <a:p>
            <a:r>
              <a:rPr lang="es-ES" sz="1800" dirty="0"/>
              <a:t>NetForge PRO Simulator es un entorno avanzado de simulación visual para modelado lógico de redes empresariales, diseñado para representar comportamientos estructurales presentes en plataformas profesionales de simulación de telecomunicaciones.</a:t>
            </a:r>
          </a:p>
          <a:p>
            <a:r>
              <a:rPr lang="es-ES" sz="1800" dirty="0"/>
              <a:t>Fue construido mediante iteraciones progresivas apoyadas por inteligencia artificial generativa, evolucionando desde un prototipo básico hasta una plataforma interactiva robusta.</a:t>
            </a:r>
          </a:p>
          <a:p>
            <a:endParaRPr lang="es-MX" sz="1800" dirty="0"/>
          </a:p>
        </p:txBody>
      </p:sp>
    </p:spTree>
    <p:extLst>
      <p:ext uri="{BB962C8B-B14F-4D97-AF65-F5344CB8AC3E}">
        <p14:creationId xmlns:p14="http://schemas.microsoft.com/office/powerpoint/2010/main" val="4194468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018B01-A7B4-747E-D5E5-10FCE3CD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Descripción General</a:t>
            </a:r>
            <a:br>
              <a:rPr lang="es-CO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760186-E160-4C8D-6F44-46E5BFC0A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818" y="1295400"/>
            <a:ext cx="11145982" cy="4881563"/>
          </a:xfrm>
        </p:spPr>
        <p:txBody>
          <a:bodyPr/>
          <a:lstStyle/>
          <a:p>
            <a:r>
              <a:rPr lang="es-ES" b="1" dirty="0"/>
              <a:t>Descripción General</a:t>
            </a:r>
          </a:p>
          <a:p>
            <a:r>
              <a:rPr lang="es-ES" dirty="0"/>
              <a:t>NETFORGE SUITE es una solución académica e interactiva orientada al fortalecimiento de competencias prácticas en redes WAN y administración de infraestructura de telecomunicaciones.</a:t>
            </a:r>
          </a:p>
          <a:p>
            <a:r>
              <a:rPr lang="es-ES" dirty="0"/>
              <a:t>El proyecto integra dos herramientas complementarias desarrolladas mediante tecnologías web y metodologías iterativas asistidas por inteligencia artificial:</a:t>
            </a:r>
          </a:p>
          <a:p>
            <a:r>
              <a:rPr lang="es-ES" b="1" dirty="0"/>
              <a:t>NetForge PRO Simulator</a:t>
            </a:r>
            <a:endParaRPr lang="es-ES" dirty="0"/>
          </a:p>
          <a:p>
            <a:r>
              <a:rPr lang="es-ES" b="1" dirty="0"/>
              <a:t>NetForge Network </a:t>
            </a:r>
            <a:r>
              <a:rPr lang="es-ES" b="1" dirty="0" err="1"/>
              <a:t>Configuration</a:t>
            </a:r>
            <a:r>
              <a:rPr lang="es-ES" b="1" dirty="0"/>
              <a:t> Suite</a:t>
            </a:r>
            <a:endParaRPr lang="es-ES" dirty="0"/>
          </a:p>
          <a:p>
            <a:r>
              <a:rPr lang="es-ES" dirty="0"/>
              <a:t>Estas aplicaciones permiten modelar, calcular, automatizar y simular procesos críticos de diseño, configuración y validación lógica de redes empresariales modernas.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11644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B97555-2C20-0111-C99D-DF39FAC92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s-CO" sz="4200"/>
              <a:t>Objetivos del Proyecto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18A6AB-A442-8C23-A89A-FAF3890F0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r>
              <a:rPr lang="es-MX" sz="2200"/>
              <a:t>Objetivo General: Desarrollar una plataforma web funcional para administrar y visualizar dispositivos de red Multi-</a:t>
            </a:r>
            <a:r>
              <a:rPr lang="es-MX" sz="2200" err="1"/>
              <a:t>Vendor</a:t>
            </a:r>
            <a:r>
              <a:rPr lang="es-MX" sz="2200"/>
              <a:t>.</a:t>
            </a:r>
          </a:p>
          <a:p>
            <a:r>
              <a:rPr lang="es-MX" sz="2200"/>
              <a:t>Específicos:</a:t>
            </a:r>
          </a:p>
          <a:p>
            <a:r>
              <a:rPr lang="es-MX" sz="2200"/>
              <a:t>- Implementar </a:t>
            </a:r>
            <a:r>
              <a:rPr lang="es-MX" sz="2200" err="1"/>
              <a:t>dashboard</a:t>
            </a:r>
            <a:r>
              <a:rPr lang="es-MX" sz="2200"/>
              <a:t> interactivo.</a:t>
            </a:r>
          </a:p>
          <a:p>
            <a:r>
              <a:rPr lang="es-MX" sz="2200"/>
              <a:t>- Centralizar configuraciones CLI (</a:t>
            </a:r>
            <a:r>
              <a:rPr lang="es-MX" sz="2200" err="1"/>
              <a:t>Routers</a:t>
            </a:r>
            <a:r>
              <a:rPr lang="es-MX" sz="2200"/>
              <a:t>, Switches, Firewalls).</a:t>
            </a:r>
          </a:p>
          <a:p>
            <a:r>
              <a:rPr lang="es-MX" sz="2200"/>
              <a:t>- Aplicar segmentación mediante </a:t>
            </a:r>
            <a:r>
              <a:rPr lang="es-MX" sz="2200" err="1"/>
              <a:t>VLANs</a:t>
            </a:r>
            <a:r>
              <a:rPr lang="es-MX" sz="2200"/>
              <a:t> y </a:t>
            </a:r>
            <a:r>
              <a:rPr lang="es-MX" sz="2200" err="1"/>
              <a:t>routing</a:t>
            </a:r>
            <a:r>
              <a:rPr lang="es-MX" sz="2200"/>
              <a:t>.</a:t>
            </a:r>
          </a:p>
          <a:p>
            <a:r>
              <a:rPr lang="es-MX" sz="2200"/>
              <a:t>- Fortalecer conocimientos en telecomunicaciones y seguridad.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1171547-88DE-F688-D63E-2DAE32169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7184" y="1890499"/>
            <a:ext cx="3781051" cy="2433024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023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2AE01-3C0C-9207-811C-B01D5A07E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Objetivo del desarrollo</a:t>
            </a:r>
            <a:br>
              <a:rPr lang="es-CO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BCE848-0EF1-21AE-9B9F-477BFACCD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Construir una herramienta académica capaz de:</a:t>
            </a:r>
          </a:p>
          <a:p>
            <a:r>
              <a:rPr lang="es-CO" dirty="0"/>
              <a:t>Simular topologías empresariales</a:t>
            </a:r>
          </a:p>
          <a:p>
            <a:r>
              <a:rPr lang="es-CO" dirty="0"/>
              <a:t>Representar dispositivos WAN</a:t>
            </a:r>
          </a:p>
          <a:p>
            <a:r>
              <a:rPr lang="es-CO" dirty="0"/>
              <a:t>Gestionar interfaces</a:t>
            </a:r>
          </a:p>
          <a:p>
            <a:r>
              <a:rPr lang="es-CO" dirty="0"/>
              <a:t>Ejecutar comandos CLI simulados</a:t>
            </a:r>
          </a:p>
          <a:p>
            <a:r>
              <a:rPr lang="es-CO" dirty="0"/>
              <a:t>Modelar </a:t>
            </a:r>
            <a:r>
              <a:rPr lang="es-CO" dirty="0" err="1"/>
              <a:t>routing</a:t>
            </a:r>
            <a:r>
              <a:rPr lang="es-CO" dirty="0"/>
              <a:t> dinámico</a:t>
            </a:r>
          </a:p>
          <a:p>
            <a:r>
              <a:rPr lang="es-CO" dirty="0"/>
              <a:t>Visualizar tráfico lógico</a:t>
            </a:r>
          </a:p>
          <a:p>
            <a:r>
              <a:rPr lang="es-CO" dirty="0"/>
              <a:t>Permitir aprendizaje práctico sin hardware físico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51820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774D3-7C29-CA52-A19F-CF109F084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Estructura del Repositorio</a:t>
            </a:r>
            <a:br>
              <a:rPr lang="es-CO" dirty="0"/>
            </a:b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6087DB5-3E18-2456-2D94-C5621DB4F9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6746" y="2049750"/>
            <a:ext cx="4597636" cy="286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472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B4BD13-52F6-B067-78DC-9202ACBBC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Creación visual de topologías</a:t>
            </a:r>
            <a:br>
              <a:rPr lang="es-CO" dirty="0"/>
            </a:br>
            <a:endParaRPr lang="es-CO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7417D049-10F6-DB05-4F87-040F3810A8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043949" y="1825625"/>
            <a:ext cx="810410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5708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3B4E9E-66FC-C073-4A09-F906623B6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Simulación interactiva de dispositivos</a:t>
            </a:r>
            <a:br>
              <a:rPr lang="es-CO" dirty="0"/>
            </a:b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35280C9-7521-FC4D-49D3-7136C4CD3F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4181" y="1825625"/>
            <a:ext cx="80436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207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EED50B-AE1C-B46C-EE54-00B16EA89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CLI estilo Cisco IOS</a:t>
            </a:r>
            <a:br>
              <a:rPr lang="es-CO" dirty="0"/>
            </a:b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D6FFE41-FE67-6ACE-F029-149CE81A18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2793" y="1825625"/>
            <a:ext cx="276641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560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72CB80-AD86-10D9-3170-1C3738858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Routing</a:t>
            </a:r>
            <a:r>
              <a:rPr lang="es-CO" dirty="0"/>
              <a:t> dinámico OSPF EIGRP BGP</a:t>
            </a:r>
            <a:br>
              <a:rPr lang="es-CO" dirty="0"/>
            </a:b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69F7275-962B-DD1E-FCCF-4C7EA792DD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08861" y="1825625"/>
            <a:ext cx="277427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251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7936E-61CB-87C0-184E-AB007DD16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Configuración de interfaces</a:t>
            </a:r>
            <a:br>
              <a:rPr lang="es-CO" dirty="0"/>
            </a:b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1498BBD-8D90-00B1-B524-EB5E815993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6482" y="1825625"/>
            <a:ext cx="275903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888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D76A7-F547-9685-05A4-0C572CC62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Gestión VLAN</a:t>
            </a:r>
            <a:br>
              <a:rPr lang="es-CO" dirty="0"/>
            </a:br>
            <a:endParaRPr lang="es-CO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81453650-EF77-4BC6-D81B-59B957A309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703859" y="1825625"/>
            <a:ext cx="278428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2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73090D-D316-8AF9-F99D-447FC13A0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Exportación SVG</a:t>
            </a:r>
            <a:br>
              <a:rPr lang="es-CO" dirty="0"/>
            </a:b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3815412-7007-26F5-93AD-1EB1115969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7530" y="1825625"/>
            <a:ext cx="80569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078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9A9779-8E5F-A9D7-3F74-105B37EE1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Archivo SVG</a:t>
            </a:r>
            <a:br>
              <a:rPr lang="es-CO" dirty="0"/>
            </a:b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8518A5C-EF66-D2F4-BBC7-68DFEEAC70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2034" y="1825625"/>
            <a:ext cx="680793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092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C3E59-8661-AAD1-8DD5-33A054320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Simulación de tráfico lógico</a:t>
            </a:r>
            <a:br>
              <a:rPr lang="es-CO" dirty="0"/>
            </a:b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10D0053-B248-8706-35E3-1CD3FA46BC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8397" y="1825625"/>
            <a:ext cx="909520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377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471DA5-C0FF-1979-E478-7C612B42E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Administración de sesiones concurrentes</a:t>
            </a:r>
            <a:br>
              <a:rPr lang="es-CO" dirty="0"/>
            </a:b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42D0A95-B799-B408-0CE8-D1AE6C016F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6800" y="1825625"/>
            <a:ext cx="44584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839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19D66-96D4-B323-C067-E837EAC05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NetForge</a:t>
            </a:r>
            <a:r>
              <a:rPr lang="es-CO" dirty="0"/>
              <a:t> Network </a:t>
            </a:r>
            <a:r>
              <a:rPr lang="es-CO" dirty="0" err="1"/>
              <a:t>Configuration</a:t>
            </a:r>
            <a:r>
              <a:rPr lang="es-CO" dirty="0"/>
              <a:t> Suite</a:t>
            </a:r>
            <a:br>
              <a:rPr lang="es-CO" dirty="0"/>
            </a:br>
            <a:r>
              <a:rPr lang="es-CO" dirty="0"/>
              <a:t>Generación </a:t>
            </a:r>
            <a:r>
              <a:rPr lang="es-CO" dirty="0" err="1"/>
              <a:t>multi-vendor</a:t>
            </a:r>
            <a:r>
              <a:rPr lang="es-CO" dirty="0"/>
              <a:t/>
            </a:r>
            <a:br>
              <a:rPr lang="es-CO" dirty="0"/>
            </a:b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93E1E7D-9BBD-17E9-EBA4-B4E83A33E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5612" y="2539206"/>
            <a:ext cx="6200775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778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228AD-B905-80A5-E6CF-637D66F14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Cálculo IPv4</a:t>
            </a:r>
            <a:br>
              <a:rPr lang="es-CO" dirty="0"/>
            </a:br>
            <a:endParaRPr lang="es-CO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5ADACBFE-6202-98B6-7016-67E063B26F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297476" y="1825625"/>
            <a:ext cx="959704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398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E39A8-2C66-6004-5582-F7FD9BA74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Cálculo IPv6</a:t>
            </a:r>
            <a:br>
              <a:rPr lang="es-CO" dirty="0"/>
            </a:b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5095E3B-13CF-48B7-70A3-E40B153A75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8236" y="1825625"/>
            <a:ext cx="911552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671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3B0104-54BA-98E0-1C4A-C11237049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División CIDR</a:t>
            </a:r>
            <a:br>
              <a:rPr lang="es-CO" dirty="0"/>
            </a:b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7B06526-5748-3854-8E98-54411EDBF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74128"/>
            <a:ext cx="10515600" cy="345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8578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9BB217-AE8C-8388-5291-4B4AB4A45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Cálculo VLSM</a:t>
            </a:r>
            <a:br>
              <a:rPr lang="es-CO" dirty="0"/>
            </a:b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B61E9A1-72A8-163C-DCD7-468A884CA0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96630"/>
            <a:ext cx="10515600" cy="3409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455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0262B7-2BA6-F681-CA20-D08AAF9BB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Gestión VLAN</a:t>
            </a:r>
            <a:br>
              <a:rPr lang="es-CO" dirty="0"/>
            </a:b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F29F92A-5055-AB42-B656-5B54BA3FBB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9021" y="1825625"/>
            <a:ext cx="65339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5254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AE6275-09A0-4F04-157F-D59536886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Exportación estructurada de comandos</a:t>
            </a:r>
            <a:br>
              <a:rPr lang="es-CO" dirty="0"/>
            </a:b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B85A676-D22F-59CD-288B-9F1BA84A4D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1239" y="1825625"/>
            <a:ext cx="806952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4816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F11A1D-7A10-7EC8-11B7-9D666BB0B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353291"/>
            <a:ext cx="11388436" cy="6283036"/>
          </a:xfrm>
        </p:spPr>
        <p:txBody>
          <a:bodyPr/>
          <a:lstStyle/>
          <a:p>
            <a:r>
              <a:rPr lang="es-CO" sz="2000" b="1" dirty="0"/>
              <a:t>Compatible conceptualmente con:</a:t>
            </a:r>
          </a:p>
          <a:p>
            <a:r>
              <a:rPr lang="es-CO" sz="2000" dirty="0"/>
              <a:t>Cisco</a:t>
            </a:r>
          </a:p>
          <a:p>
            <a:r>
              <a:rPr lang="es-CO" sz="2000" dirty="0" err="1"/>
              <a:t>MikroTik</a:t>
            </a:r>
            <a:endParaRPr lang="es-CO" sz="2000" dirty="0"/>
          </a:p>
          <a:p>
            <a:r>
              <a:rPr lang="es-CO" sz="2000" dirty="0"/>
              <a:t>Juniper</a:t>
            </a:r>
          </a:p>
          <a:p>
            <a:r>
              <a:rPr lang="es-CO" sz="2000" dirty="0"/>
              <a:t>Huawei</a:t>
            </a:r>
          </a:p>
          <a:p>
            <a:r>
              <a:rPr lang="es-CO" sz="2000" dirty="0"/>
              <a:t>HP Aruba</a:t>
            </a:r>
          </a:p>
          <a:p>
            <a:r>
              <a:rPr lang="es-CO" sz="2000" dirty="0"/>
              <a:t>TP-Link</a:t>
            </a:r>
          </a:p>
          <a:p>
            <a:r>
              <a:rPr lang="es-CO" sz="2000" b="1" dirty="0"/>
              <a:t>Tecnologías Utilizadas</a:t>
            </a:r>
          </a:p>
          <a:p>
            <a:r>
              <a:rPr lang="es-CO" sz="2000" dirty="0"/>
              <a:t>HTML5</a:t>
            </a:r>
          </a:p>
          <a:p>
            <a:r>
              <a:rPr lang="es-CO" sz="2000" dirty="0"/>
              <a:t>CSS3</a:t>
            </a:r>
          </a:p>
          <a:p>
            <a:r>
              <a:rPr lang="es-CO" sz="2000" dirty="0"/>
              <a:t>JavaScript Vanilla</a:t>
            </a:r>
          </a:p>
          <a:p>
            <a:r>
              <a:rPr lang="es-CO" sz="2000" dirty="0" err="1"/>
              <a:t>Canvas</a:t>
            </a:r>
            <a:r>
              <a:rPr lang="es-CO" sz="2000" dirty="0"/>
              <a:t> API</a:t>
            </a:r>
          </a:p>
          <a:p>
            <a:r>
              <a:rPr lang="es-CO" sz="2000" dirty="0"/>
              <a:t>SVG </a:t>
            </a:r>
            <a:r>
              <a:rPr lang="es-CO" sz="2000" dirty="0" err="1"/>
              <a:t>Rendering</a:t>
            </a:r>
            <a:endParaRPr lang="es-CO" sz="2000" dirty="0"/>
          </a:p>
          <a:p>
            <a:r>
              <a:rPr lang="es-CO" sz="2000" dirty="0"/>
              <a:t>Arquitectura </a:t>
            </a:r>
            <a:r>
              <a:rPr lang="es-CO" sz="2000" dirty="0" err="1"/>
              <a:t>Event</a:t>
            </a:r>
            <a:r>
              <a:rPr lang="es-CO" sz="2000" dirty="0"/>
              <a:t> </a:t>
            </a:r>
            <a:r>
              <a:rPr lang="es-CO" sz="2000" dirty="0" err="1"/>
              <a:t>Driven</a:t>
            </a:r>
            <a:endParaRPr lang="es-CO" sz="2000" dirty="0"/>
          </a:p>
          <a:p>
            <a:r>
              <a:rPr lang="es-CO" sz="2000" dirty="0"/>
              <a:t>Simulación lógica distribuida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088336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7E0A0A-51D5-7080-3595-6FF29E910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Metodología de Desarrollo</a:t>
            </a:r>
            <a:br>
              <a:rPr lang="es-CO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99C8BB-4980-9323-A688-8AF0A2E4A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473" y="893618"/>
            <a:ext cx="11762509" cy="5694218"/>
          </a:xfrm>
        </p:spPr>
        <p:txBody>
          <a:bodyPr/>
          <a:lstStyle/>
          <a:p>
            <a:r>
              <a:rPr lang="es-ES" b="1" dirty="0"/>
              <a:t>Fases</a:t>
            </a:r>
          </a:p>
          <a:p>
            <a:r>
              <a:rPr lang="es-ES" b="1" dirty="0"/>
              <a:t>Fase 1</a:t>
            </a:r>
          </a:p>
          <a:p>
            <a:r>
              <a:rPr lang="es-ES" dirty="0"/>
              <a:t>Prototipo funcional inicial con cálculos básicos de red.</a:t>
            </a:r>
          </a:p>
          <a:p>
            <a:r>
              <a:rPr lang="es-ES" b="1" dirty="0"/>
              <a:t>Fase 2</a:t>
            </a:r>
          </a:p>
          <a:p>
            <a:r>
              <a:rPr lang="es-ES" dirty="0"/>
              <a:t>Expansión modular hacia automatización de configuraciones.</a:t>
            </a:r>
          </a:p>
          <a:p>
            <a:r>
              <a:rPr lang="es-ES" b="1" dirty="0"/>
              <a:t>Fase 3</a:t>
            </a:r>
          </a:p>
          <a:p>
            <a:r>
              <a:rPr lang="es-ES" dirty="0"/>
              <a:t>Diseño visual avanzado y simulación interactiva.</a:t>
            </a:r>
          </a:p>
          <a:p>
            <a:r>
              <a:rPr lang="es-ES" b="1" dirty="0"/>
              <a:t>Fase 4</a:t>
            </a:r>
          </a:p>
          <a:p>
            <a:r>
              <a:rPr lang="es-ES" dirty="0"/>
              <a:t>Optimización funcional y refinamiento lógico.</a:t>
            </a:r>
          </a:p>
          <a:p>
            <a:r>
              <a:rPr lang="es-ES" b="1" dirty="0"/>
              <a:t>Fase 5</a:t>
            </a:r>
          </a:p>
          <a:p>
            <a:r>
              <a:rPr lang="es-ES" dirty="0"/>
              <a:t>Documentación académica y estructuración profesional.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011178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B2EF74-95F8-C4C5-6EA4-E15CFA292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Rol de la Inteligencia Artificial</a:t>
            </a:r>
            <a:br>
              <a:rPr lang="es-ES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DE53DD-9AF5-EED6-D3CA-18F2592F7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 utilizó inteligencia artificial generativa como herramienta de asistencia para:</a:t>
            </a:r>
          </a:p>
          <a:p>
            <a:r>
              <a:rPr lang="es-ES" dirty="0"/>
              <a:t>Diseño estructural</a:t>
            </a:r>
          </a:p>
          <a:p>
            <a:r>
              <a:rPr lang="es-ES" dirty="0"/>
              <a:t>Optimización algorítmica</a:t>
            </a:r>
          </a:p>
          <a:p>
            <a:r>
              <a:rPr lang="es-ES" dirty="0"/>
              <a:t>Iteración funcional</a:t>
            </a:r>
          </a:p>
          <a:p>
            <a:r>
              <a:rPr lang="es-ES" dirty="0"/>
              <a:t>Refinamiento visual</a:t>
            </a:r>
          </a:p>
          <a:p>
            <a:r>
              <a:rPr lang="es-ES" dirty="0"/>
              <a:t>Documentación técnica</a:t>
            </a:r>
          </a:p>
          <a:p>
            <a:r>
              <a:rPr lang="es-ES" dirty="0"/>
              <a:t>La validación técnica, criterio de diseño, control funcional y supervisión fueron responsabilidad total del equipo de desarrollo.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681137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0028C6B-DD97-92A2-7403-035E895B3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s-CO" sz="4800"/>
              <a:t>Aprendizajes Clave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20AA0C-CC7E-A6D0-992F-961998849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95" y="3040447"/>
            <a:ext cx="5150277" cy="268278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8D5502-B5C5-D1A5-2B0F-0CE9844B4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s-MX" sz="2000"/>
              <a:t>Arquitecturas de red empresarial.</a:t>
            </a:r>
          </a:p>
          <a:p>
            <a:r>
              <a:rPr lang="es-MX" sz="2000"/>
              <a:t>Configuración de VLANs, EtherChannel y enlaces troncales.</a:t>
            </a:r>
          </a:p>
          <a:p>
            <a:r>
              <a:rPr lang="es-MX" sz="2000"/>
              <a:t>Administración de dispositivos Cisco, Fortinet, Sophos, MikroTik y Aruba.</a:t>
            </a:r>
          </a:p>
          <a:p>
            <a:r>
              <a:rPr lang="es-MX" sz="2000"/>
              <a:t>Desarrollo de interfaces frontend dinámicas (HTML, CSS, JS).</a:t>
            </a:r>
          </a:p>
          <a:p>
            <a:r>
              <a:rPr lang="es-MX" sz="2000"/>
              <a:t>Prácticas de automatización y Alta Disponibilidad (HA).</a:t>
            </a: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1041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87FC44-3C4A-23B3-9120-1B5575B4E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46542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C31F5E-4CDB-C180-B9E4-1F8DF77B5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3"/>
            <a:ext cx="2910051" cy="5576768"/>
          </a:xfrm>
        </p:spPr>
        <p:txBody>
          <a:bodyPr anchor="t">
            <a:normAutofit/>
          </a:bodyPr>
          <a:lstStyle/>
          <a:p>
            <a:pPr algn="l"/>
            <a:r>
              <a:rPr lang="es-CO" sz="4800">
                <a:solidFill>
                  <a:schemeClr val="bg1"/>
                </a:solidFill>
              </a:rPr>
              <a:t>Buenas Practicas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2118" y="0"/>
            <a:ext cx="752987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05DA040-C559-DEAB-30CF-82842EF4E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9976" y="1590972"/>
            <a:ext cx="5592818" cy="1020689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9976" y="4006121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E81A6F-74AF-6BFA-1F76-EBFB4305A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9383" y="3072984"/>
            <a:ext cx="7152507" cy="3785016"/>
          </a:xfrm>
        </p:spPr>
        <p:txBody>
          <a:bodyPr>
            <a:noAutofit/>
          </a:bodyPr>
          <a:lstStyle/>
          <a:p>
            <a:pPr algn="just"/>
            <a:r>
              <a:rPr lang="es-MX" sz="1400" dirty="0"/>
              <a:t>Implementación de Control de Cambios: Toda modificación en la configuración de los dispositivos debe seguir un proceso de validación previo para evitar interrupciones en el servicio.  Gestión de Respaldos (</a:t>
            </a:r>
            <a:r>
              <a:rPr lang="es-MX" sz="1400" dirty="0" err="1"/>
              <a:t>Backups</a:t>
            </a:r>
            <a:r>
              <a:rPr lang="es-MX" sz="1400" dirty="0"/>
              <a:t>): Mantener respaldos automatizados y versionados de las configuraciones de </a:t>
            </a:r>
            <a:r>
              <a:rPr lang="es-MX" sz="1400" dirty="0" err="1"/>
              <a:t>routers</a:t>
            </a:r>
            <a:r>
              <a:rPr lang="es-MX" sz="1400" dirty="0"/>
              <a:t>, switches y firewalls de todos los fabricantes integrados.  Seguridad en el Acceso (RBAC): Aplicar el principio de menor privilegio, asegurando que solo el personal autorizado acceda a las configuraciones críticas a través del </a:t>
            </a:r>
            <a:r>
              <a:rPr lang="es-MX" sz="1400" dirty="0" err="1"/>
              <a:t>dashboard</a:t>
            </a:r>
            <a:r>
              <a:rPr lang="es-MX" sz="1400" dirty="0"/>
              <a:t>.  Documentación de Topología: Mantener actualizados los diagramas de red y la segmentación por </a:t>
            </a:r>
            <a:r>
              <a:rPr lang="es-MX" sz="1400" dirty="0" err="1"/>
              <a:t>VLANs</a:t>
            </a:r>
            <a:r>
              <a:rPr lang="es-MX" sz="1400" dirty="0"/>
              <a:t> para facilitar la resolución de problemas (</a:t>
            </a:r>
            <a:r>
              <a:rPr lang="es-MX" sz="1400" dirty="0" err="1"/>
              <a:t>troubleshooting</a:t>
            </a:r>
            <a:r>
              <a:rPr lang="es-MX" sz="1400" dirty="0"/>
              <a:t>).  Monitoreo Proactivo: Integrar la plataforma con sistemas de monitoreo para supervisar el estado de los dispositivos en tiempo real y anticipar fallos mediante alertas tempranas.  Seguridad en el Código: En el desarrollo de interfaces (HTML/JS), asegurar la sanitización de entradas para prevenir inyecciones o accesos no autorizados a las configuraciones CLI.</a:t>
            </a:r>
          </a:p>
        </p:txBody>
      </p:sp>
    </p:spTree>
    <p:extLst>
      <p:ext uri="{BB962C8B-B14F-4D97-AF65-F5344CB8AC3E}">
        <p14:creationId xmlns:p14="http://schemas.microsoft.com/office/powerpoint/2010/main" val="29924588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FEAB3E-5582-4272-2076-44D6D841D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02208A3-5B42-4C64-96EC-BCB605D2D3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8D58939-C9A1-8103-BDC9-FFE257840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926" y="1598246"/>
            <a:ext cx="5569858" cy="36262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200">
                <a:solidFill>
                  <a:srgbClr val="FFFFFF"/>
                </a:solidFill>
                <a:latin typeface="+mj-lt"/>
              </a:rPr>
              <a:t>Funcionamiento de la aplicación</a:t>
            </a:r>
          </a:p>
        </p:txBody>
      </p:sp>
      <p:sp>
        <p:nvSpPr>
          <p:cNvPr id="33" name="Graphic 17">
            <a:extLst>
              <a:ext uri="{FF2B5EF4-FFF2-40B4-BE49-F238E27FC236}">
                <a16:creationId xmlns:a16="http://schemas.microsoft.com/office/drawing/2014/main" id="{B71758F4-3F46-45DA-8AC5-4E508DA080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12034" y="1267063"/>
            <a:ext cx="139037" cy="139039"/>
          </a:xfrm>
          <a:custGeom>
            <a:avLst/>
            <a:gdLst>
              <a:gd name="connsiteX0" fmla="*/ 129600 w 139037"/>
              <a:gd name="connsiteY0" fmla="*/ 60082 h 139039"/>
              <a:gd name="connsiteX1" fmla="*/ 78955 w 139037"/>
              <a:gd name="connsiteY1" fmla="*/ 60082 h 139039"/>
              <a:gd name="connsiteX2" fmla="*/ 78955 w 139037"/>
              <a:gd name="connsiteY2" fmla="*/ 9437 h 139039"/>
              <a:gd name="connsiteX3" fmla="*/ 69519 w 139037"/>
              <a:gd name="connsiteY3" fmla="*/ 0 h 139039"/>
              <a:gd name="connsiteX4" fmla="*/ 60082 w 139037"/>
              <a:gd name="connsiteY4" fmla="*/ 9437 h 139039"/>
              <a:gd name="connsiteX5" fmla="*/ 60082 w 139037"/>
              <a:gd name="connsiteY5" fmla="*/ 60082 h 139039"/>
              <a:gd name="connsiteX6" fmla="*/ 9437 w 139037"/>
              <a:gd name="connsiteY6" fmla="*/ 60082 h 139039"/>
              <a:gd name="connsiteX7" fmla="*/ 0 w 139037"/>
              <a:gd name="connsiteY7" fmla="*/ 69520 h 139039"/>
              <a:gd name="connsiteX8" fmla="*/ 9437 w 139037"/>
              <a:gd name="connsiteY8" fmla="*/ 78957 h 139039"/>
              <a:gd name="connsiteX9" fmla="*/ 60082 w 139037"/>
              <a:gd name="connsiteY9" fmla="*/ 78957 h 139039"/>
              <a:gd name="connsiteX10" fmla="*/ 60082 w 139037"/>
              <a:gd name="connsiteY10" fmla="*/ 129602 h 139039"/>
              <a:gd name="connsiteX11" fmla="*/ 69519 w 139037"/>
              <a:gd name="connsiteY11" fmla="*/ 139039 h 139039"/>
              <a:gd name="connsiteX12" fmla="*/ 78955 w 139037"/>
              <a:gd name="connsiteY12" fmla="*/ 129602 h 139039"/>
              <a:gd name="connsiteX13" fmla="*/ 78955 w 139037"/>
              <a:gd name="connsiteY13" fmla="*/ 78957 h 139039"/>
              <a:gd name="connsiteX14" fmla="*/ 129600 w 139037"/>
              <a:gd name="connsiteY14" fmla="*/ 78957 h 139039"/>
              <a:gd name="connsiteX15" fmla="*/ 139037 w 139037"/>
              <a:gd name="connsiteY15" fmla="*/ 69520 h 139039"/>
              <a:gd name="connsiteX16" fmla="*/ 129600 w 139037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7" h="139039">
                <a:moveTo>
                  <a:pt x="129600" y="60082"/>
                </a:moveTo>
                <a:lnTo>
                  <a:pt x="78955" y="60082"/>
                </a:lnTo>
                <a:lnTo>
                  <a:pt x="78955" y="9437"/>
                </a:lnTo>
                <a:cubicBezTo>
                  <a:pt x="78955" y="4225"/>
                  <a:pt x="74730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7" y="139039"/>
                  <a:pt x="69519" y="139039"/>
                </a:cubicBezTo>
                <a:cubicBezTo>
                  <a:pt x="74730" y="139039"/>
                  <a:pt x="78955" y="134814"/>
                  <a:pt x="78955" y="129602"/>
                </a:cubicBezTo>
                <a:lnTo>
                  <a:pt x="78955" y="78957"/>
                </a:lnTo>
                <a:lnTo>
                  <a:pt x="129600" y="78957"/>
                </a:lnTo>
                <a:cubicBezTo>
                  <a:pt x="134812" y="78957"/>
                  <a:pt x="139037" y="74731"/>
                  <a:pt x="139037" y="69520"/>
                </a:cubicBezTo>
                <a:cubicBezTo>
                  <a:pt x="139037" y="64308"/>
                  <a:pt x="134812" y="60082"/>
                  <a:pt x="129600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Graphic 21">
            <a:extLst>
              <a:ext uri="{FF2B5EF4-FFF2-40B4-BE49-F238E27FC236}">
                <a16:creationId xmlns:a16="http://schemas.microsoft.com/office/drawing/2014/main" id="{8D61482F-F3C5-4D66-8C5D-C6BBE3E1275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52801" y="1659316"/>
            <a:ext cx="127713" cy="127714"/>
          </a:xfrm>
          <a:custGeom>
            <a:avLst/>
            <a:gdLst>
              <a:gd name="connsiteX0" fmla="*/ 63857 w 127713"/>
              <a:gd name="connsiteY0" fmla="*/ 18874 h 127714"/>
              <a:gd name="connsiteX1" fmla="*/ 108839 w 127713"/>
              <a:gd name="connsiteY1" fmla="*/ 63857 h 127714"/>
              <a:gd name="connsiteX2" fmla="*/ 63857 w 127713"/>
              <a:gd name="connsiteY2" fmla="*/ 108840 h 127714"/>
              <a:gd name="connsiteX3" fmla="*/ 18874 w 127713"/>
              <a:gd name="connsiteY3" fmla="*/ 63857 h 127714"/>
              <a:gd name="connsiteX4" fmla="*/ 63857 w 127713"/>
              <a:gd name="connsiteY4" fmla="*/ 18874 h 127714"/>
              <a:gd name="connsiteX5" fmla="*/ 63857 w 127713"/>
              <a:gd name="connsiteY5" fmla="*/ 0 h 127714"/>
              <a:gd name="connsiteX6" fmla="*/ 0 w 127713"/>
              <a:gd name="connsiteY6" fmla="*/ 63857 h 127714"/>
              <a:gd name="connsiteX7" fmla="*/ 63857 w 127713"/>
              <a:gd name="connsiteY7" fmla="*/ 127714 h 127714"/>
              <a:gd name="connsiteX8" fmla="*/ 127713 w 127713"/>
              <a:gd name="connsiteY8" fmla="*/ 63857 h 127714"/>
              <a:gd name="connsiteX9" fmla="*/ 63857 w 127713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4">
                <a:moveTo>
                  <a:pt x="63857" y="18874"/>
                </a:moveTo>
                <a:cubicBezTo>
                  <a:pt x="88700" y="18874"/>
                  <a:pt x="108839" y="39014"/>
                  <a:pt x="108839" y="63857"/>
                </a:cubicBezTo>
                <a:cubicBezTo>
                  <a:pt x="108839" y="88700"/>
                  <a:pt x="88700" y="108840"/>
                  <a:pt x="63857" y="108840"/>
                </a:cubicBezTo>
                <a:cubicBezTo>
                  <a:pt x="39013" y="108840"/>
                  <a:pt x="18874" y="88700"/>
                  <a:pt x="18874" y="63857"/>
                </a:cubicBezTo>
                <a:cubicBezTo>
                  <a:pt x="18898" y="39024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F8A084C-434C-FF9C-F19A-A95266B6A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11" y="4347013"/>
            <a:ext cx="4440308" cy="242179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DFF5556-7308-6893-55D6-5914EF1C5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008" y="3387733"/>
            <a:ext cx="5451558" cy="3331227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b="9143"/>
          <a:stretch/>
        </p:blipFill>
        <p:spPr>
          <a:xfrm>
            <a:off x="1448288" y="132662"/>
            <a:ext cx="2374249" cy="412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2560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8C3BC4-2B48-5471-5C24-89F3BE1B5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73F96E-CA49-0248-C474-4CCDBB304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/>
              <a:t>Conclusión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7B66E3-BFB3-C618-2E41-2E007EE9E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endParaRPr lang="es-MX" sz="2000"/>
          </a:p>
          <a:p>
            <a:r>
              <a:rPr lang="es-MX" sz="2000"/>
              <a:t>Integración exitosa de desarrollo web y administración de redes.</a:t>
            </a:r>
          </a:p>
          <a:p>
            <a:r>
              <a:rPr lang="es-MX" sz="2000"/>
              <a:t>Optimización de la gestión de infraestructura tecnológica.</a:t>
            </a:r>
          </a:p>
          <a:p>
            <a:r>
              <a:rPr lang="es-MX" sz="2000"/>
              <a:t>Herramienta crítica para garantizar continuidad operativa y seguridad.</a:t>
            </a:r>
          </a:p>
          <a:p>
            <a:r>
              <a:rPr lang="es-MX" sz="2000"/>
              <a:t>La combinación de tecnologías web e infraestructura permite crear herramientas innovadoras.</a:t>
            </a:r>
          </a:p>
          <a:p>
            <a:endParaRPr lang="es-CO" sz="20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B339C09-D845-EFF5-DF15-18941A95B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982991"/>
            <a:ext cx="5150277" cy="271677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4040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CC4C26-F6AE-4975-BD92-3D94E9AF4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Gracias por la atención prestada</a:t>
            </a:r>
          </a:p>
        </p:txBody>
      </p:sp>
    </p:spTree>
    <p:extLst>
      <p:ext uri="{BB962C8B-B14F-4D97-AF65-F5344CB8AC3E}">
        <p14:creationId xmlns:p14="http://schemas.microsoft.com/office/powerpoint/2010/main" val="6712649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56883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3" id="{252858C2-19AA-4E36-BB03-40CEED1D36C5}" vid="{B128997E-D972-412B-B4EB-2EDC7BD369C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40AF22DF29A0A42A3C1C43FF676651A" ma:contentTypeVersion="8" ma:contentTypeDescription="Crear nuevo documento." ma:contentTypeScope="" ma:versionID="cfa47cdb01af0fa44434d07074319d87">
  <xsd:schema xmlns:xsd="http://www.w3.org/2001/XMLSchema" xmlns:xs="http://www.w3.org/2001/XMLSchema" xmlns:p="http://schemas.microsoft.com/office/2006/metadata/properties" xmlns:ns2="16869c2d-4a93-4395-99dd-f76cf2711a97" targetNamespace="http://schemas.microsoft.com/office/2006/metadata/properties" ma:root="true" ma:fieldsID="1fbdc47008f52e5ddc08a53aee3fcbac" ns2:_="">
    <xsd:import namespace="16869c2d-4a93-4395-99dd-f76cf2711a97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869c2d-4a93-4395-99dd-f76cf2711a97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16869c2d-4a93-4395-99dd-f76cf2711a97" xsi:nil="true"/>
  </documentManagement>
</p:properties>
</file>

<file path=customXml/itemProps1.xml><?xml version="1.0" encoding="utf-8"?>
<ds:datastoreItem xmlns:ds="http://schemas.openxmlformats.org/officeDocument/2006/customXml" ds:itemID="{0DA0DE83-E0D2-431D-9B5C-C26F761B4E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869c2d-4a93-4395-99dd-f76cf2711a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5A8E9C0-2C8B-44E8-AF41-E56ECBC4A66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9DC3A2-3E46-4638-8CF5-FE8A50E6A9B1}">
  <ds:schemaRefs>
    <ds:schemaRef ds:uri="http://schemas.microsoft.com/office/2006/metadata/properties"/>
    <ds:schemaRef ds:uri="http://schemas.microsoft.com/office/infopath/2007/PartnerControls"/>
    <ds:schemaRef ds:uri="7c8edd70-be74-4973-a1f3-0e5202b97ec1"/>
    <ds:schemaRef ds:uri="4cffc96c-6241-4aca-8fd8-70c07860be98"/>
    <ds:schemaRef ds:uri="16869c2d-4a93-4395-99dd-f76cf2711a9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811</TotalTime>
  <Words>744</Words>
  <Application>Microsoft Office PowerPoint</Application>
  <PresentationFormat>Panorámica</PresentationFormat>
  <Paragraphs>103</Paragraphs>
  <Slides>33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Tema de Office</vt:lpstr>
      <vt:lpstr>Presentación de PowerPoint</vt:lpstr>
      <vt:lpstr>Interconexión de Redes WAN</vt:lpstr>
      <vt:lpstr>Introducción</vt:lpstr>
      <vt:lpstr>Descripción General </vt:lpstr>
      <vt:lpstr>Objetivos del Proyecto</vt:lpstr>
      <vt:lpstr>Objetivo del desarrollo </vt:lpstr>
      <vt:lpstr>Estructura del Repositorio </vt:lpstr>
      <vt:lpstr>Creación visual de topologías </vt:lpstr>
      <vt:lpstr>Simulación interactiva de dispositivos </vt:lpstr>
      <vt:lpstr>CLI estilo Cisco IOS </vt:lpstr>
      <vt:lpstr>Routing dinámico OSPF EIGRP BGP </vt:lpstr>
      <vt:lpstr>Configuración de interfaces </vt:lpstr>
      <vt:lpstr>Gestión VLAN </vt:lpstr>
      <vt:lpstr>Exportación SVG </vt:lpstr>
      <vt:lpstr>Archivo SVG </vt:lpstr>
      <vt:lpstr>Simulación de tráfico lógico </vt:lpstr>
      <vt:lpstr>Administración de sesiones concurrentes </vt:lpstr>
      <vt:lpstr>NetForge Network Configuration Suite Generación multi-vendor </vt:lpstr>
      <vt:lpstr>Cálculo IPv4 </vt:lpstr>
      <vt:lpstr>Cálculo IPv6 </vt:lpstr>
      <vt:lpstr>División CIDR </vt:lpstr>
      <vt:lpstr>Cálculo VLSM </vt:lpstr>
      <vt:lpstr>Gestión VLAN </vt:lpstr>
      <vt:lpstr>Exportación estructurada de comandos </vt:lpstr>
      <vt:lpstr>Presentación de PowerPoint</vt:lpstr>
      <vt:lpstr>Metodología de Desarrollo </vt:lpstr>
      <vt:lpstr>Rol de la Inteligencia Artificial </vt:lpstr>
      <vt:lpstr>Aprendizajes Clave</vt:lpstr>
      <vt:lpstr>Buenas Practicas</vt:lpstr>
      <vt:lpstr>Funcionamiento de la aplicación</vt:lpstr>
      <vt:lpstr>Conclusión</vt:lpstr>
      <vt:lpstr>Gracias por la atención prestada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Oscar Mauricio Gelvez Lizarazo</dc:creator>
  <cp:lastModifiedBy>Harrison David Rodriguez Reyes</cp:lastModifiedBy>
  <cp:revision>12</cp:revision>
  <dcterms:created xsi:type="dcterms:W3CDTF">2022-02-08T23:40:22Z</dcterms:created>
  <dcterms:modified xsi:type="dcterms:W3CDTF">2026-05-26T18:42:37Z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0x010100840AF22DF29A0A42A3C1C43FF676651A</vt:lpwstr>
  </property>
</Properties>
</file>